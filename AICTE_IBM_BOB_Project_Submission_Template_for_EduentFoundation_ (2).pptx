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90" r:id="rId2"/>
    <p:sldId id="291" r:id="rId3"/>
    <p:sldId id="292" r:id="rId4"/>
    <p:sldId id="293" r:id="rId5"/>
    <p:sldId id="294" r:id="rId6"/>
    <p:sldId id="295" r:id="rId7"/>
    <p:sldId id="296" r:id="rId8"/>
    <p:sldId id="297" r:id="rId9"/>
    <p:sldId id="311" r:id="rId10"/>
    <p:sldId id="312" r:id="rId11"/>
    <p:sldId id="313" r:id="rId12"/>
    <p:sldId id="314" r:id="rId13"/>
    <p:sldId id="298" r:id="rId14"/>
    <p:sldId id="299" r:id="rId15"/>
    <p:sldId id="300" r:id="rId16"/>
    <p:sldId id="301" r:id="rId17"/>
    <p:sldId id="302" r:id="rId18"/>
    <p:sldId id="310" r:id="rId19"/>
    <p:sldId id="303" r:id="rId20"/>
    <p:sldId id="304" r:id="rId21"/>
    <p:sldId id="305" r:id="rId22"/>
    <p:sldId id="306" r:id="rId23"/>
    <p:sldId id="307" r:id="rId24"/>
    <p:sldId id="308" r:id="rId25"/>
    <p:sldId id="309"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ayush-cyber1/interview-trainer-agen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1787012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Ayush Sharma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b="0" i="0" u="none" strike="noStrike" cap="none" dirty="0">
                          <a:solidFill>
                            <a:srgbClr val="000000"/>
                          </a:solidFill>
                          <a:effectLst/>
                          <a:latin typeface="Arial"/>
                          <a:ea typeface="Arial"/>
                          <a:cs typeface="Arial"/>
                          <a:sym typeface="Arial"/>
                        </a:rPr>
                        <a:t>ayush.sh2177@gmail.com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7206543544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b="1" dirty="0">
                <a:highlight>
                  <a:srgbClr val="FFFF00"/>
                </a:highlight>
              </a:rPr>
              <a:t>Education &amp; Career Development</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b="1" dirty="0">
                <a:highlight>
                  <a:srgbClr val="FFFF00"/>
                </a:highlight>
              </a:rPr>
              <a:t>Interview Trainer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156908" y="5102512"/>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9AB786B8-2315-31B3-17EE-C3BC663B9E47}"/>
              </a:ext>
            </a:extLst>
          </p:cNvPr>
          <p:cNvPicPr>
            <a:picLocks noChangeAspect="1"/>
          </p:cNvPicPr>
          <p:nvPr/>
        </p:nvPicPr>
        <p:blipFill>
          <a:blip r:embed="rId3"/>
          <a:stretch>
            <a:fillRect/>
          </a:stretch>
        </p:blipFill>
        <p:spPr>
          <a:xfrm>
            <a:off x="3955036" y="3661101"/>
            <a:ext cx="860488" cy="110634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755422"/>
          </a:xfrm>
          <a:prstGeom prst="rect">
            <a:avLst/>
          </a:prstGeom>
          <a:noFill/>
        </p:spPr>
        <p:txBody>
          <a:bodyPr wrap="square" rtlCol="0">
            <a:spAutoFit/>
          </a:bodyPr>
          <a:lstStyle/>
          <a:p>
            <a:r>
              <a:rPr lang="en-IN" sz="1800" b="1" dirty="0"/>
              <a:t>Problem Statement: Interview Trainer Agent</a:t>
            </a:r>
            <a:endParaRPr lang="en-IN" sz="1800" dirty="0"/>
          </a:p>
          <a:p>
            <a:r>
              <a:rPr lang="en-IN" b="1" dirty="0"/>
              <a:t>The Challenge</a:t>
            </a:r>
            <a:br>
              <a:rPr lang="en-IN" dirty="0"/>
            </a:br>
            <a:r>
              <a:rPr lang="en-IN" dirty="0"/>
              <a:t>Preparing for job interviews is stressful and inconsistent — candidates often don't know what to expect for a specific role, experience level, or industry. Interview questions, </a:t>
            </a:r>
            <a:r>
              <a:rPr lang="en-IN" dirty="0" err="1"/>
              <a:t>behavioral</a:t>
            </a:r>
            <a:r>
              <a:rPr lang="en-IN" dirty="0"/>
              <a:t> scenarios, and HR expectations are scattered across job portals, professional networks, and company-specific interview experiences, making it hard to prepare in a structured way. Without personalized, role-specific guidance, many candidates walk into interviews underprepared, unsure of both the technical questions they'll face and how to present their soft skills convincingly.</a:t>
            </a:r>
          </a:p>
          <a:p>
            <a:r>
              <a:rPr lang="en-IN" b="1" dirty="0"/>
              <a:t>The Objective</a:t>
            </a:r>
            <a:br>
              <a:rPr lang="en-IN" dirty="0"/>
            </a:br>
            <a:r>
              <a:rPr lang="en-IN" dirty="0"/>
              <a:t>Build an AI-powered Interview Trainer Agent that delivers personalized interview preparation for job seekers across experience levels and industries. The solution should:</a:t>
            </a:r>
          </a:p>
          <a:p>
            <a:pPr lvl="0"/>
            <a:r>
              <a:rPr lang="en-IN" b="1" dirty="0"/>
              <a:t>Personalized Question Sets</a:t>
            </a:r>
            <a:r>
              <a:rPr lang="en-IN" dirty="0"/>
              <a:t> – Generate tailored interview questions based on profile name, experience level, and job role.</a:t>
            </a:r>
          </a:p>
          <a:p>
            <a:pPr lvl="0"/>
            <a:r>
              <a:rPr lang="en-IN" b="1" dirty="0"/>
              <a:t>Interview Data RAG Retrieval</a:t>
            </a:r>
            <a:r>
              <a:rPr lang="en-IN" dirty="0"/>
              <a:t> – Fetch and summarize role-specific interview questions, industry expectations, </a:t>
            </a:r>
            <a:r>
              <a:rPr lang="en-IN" dirty="0" err="1"/>
              <a:t>behavioral</a:t>
            </a:r>
            <a:r>
              <a:rPr lang="en-IN" dirty="0"/>
              <a:t> scenarios, and HR guidelines from a structured knowledge base.</a:t>
            </a:r>
          </a:p>
          <a:p>
            <a:pPr lvl="0"/>
            <a:r>
              <a:rPr lang="en-IN" b="1" dirty="0"/>
              <a:t>Resume-Based Preparation &amp; Feedback</a:t>
            </a:r>
            <a:r>
              <a:rPr lang="en-IN" dirty="0"/>
              <a:t> – Allow users to input their resume or job title, and instantly receive targeted questions, model answers, and improvement tips.</a:t>
            </a:r>
          </a:p>
          <a:p>
            <a:pPr lvl="0"/>
            <a:r>
              <a:rPr lang="en-IN" b="1" dirty="0"/>
              <a:t>Comprehensive Skill Assessment</a:t>
            </a:r>
            <a:r>
              <a:rPr lang="en-IN" dirty="0"/>
              <a:t> – Cover both technical and soft-skill/</a:t>
            </a:r>
            <a:r>
              <a:rPr lang="en-IN" dirty="0" err="1"/>
              <a:t>behavioral</a:t>
            </a:r>
            <a:r>
              <a:rPr lang="en-IN" dirty="0"/>
              <a:t> interview preparation for a well-rounded readiness experience.</a:t>
            </a:r>
          </a:p>
          <a:p>
            <a:pPr lvl="0"/>
            <a:r>
              <a:rPr lang="en-IN" b="1" dirty="0"/>
              <a:t>Multi-Agent System</a:t>
            </a:r>
            <a:r>
              <a:rPr lang="en-IN" dirty="0"/>
              <a:t> – </a:t>
            </a:r>
          </a:p>
          <a:p>
            <a:pPr lvl="1"/>
            <a:r>
              <a:rPr lang="en-IN" i="1" dirty="0"/>
              <a:t>Interview Knowledge Agent</a:t>
            </a:r>
            <a:r>
              <a:rPr lang="en-IN" dirty="0"/>
              <a:t> (retrieves role-specific questions, scenarios, and HR guidelines)</a:t>
            </a:r>
          </a:p>
          <a:p>
            <a:pPr lvl="1"/>
            <a:r>
              <a:rPr lang="en-IN" i="1" dirty="0"/>
              <a:t>Question Recommendation Agent</a:t>
            </a:r>
            <a:r>
              <a:rPr lang="en-IN" dirty="0"/>
              <a:t> (builds personalized question sets and model answers)</a:t>
            </a:r>
          </a:p>
          <a:p>
            <a:pPr lvl="1"/>
            <a:r>
              <a:rPr lang="en-IN" i="1" dirty="0"/>
              <a:t>Improvement Advisory Agent</a:t>
            </a:r>
            <a:r>
              <a:rPr lang="en-IN" dirty="0"/>
              <a:t> (delivers soft-skill and </a:t>
            </a:r>
            <a:r>
              <a:rPr lang="en-IN" dirty="0" err="1"/>
              <a:t>behavioral</a:t>
            </a:r>
            <a:r>
              <a:rPr lang="en-IN" dirty="0"/>
              <a:t> improvement tips)</a:t>
            </a:r>
          </a:p>
          <a:p>
            <a:pPr lvl="1"/>
            <a:r>
              <a:rPr lang="en-IN" i="1" dirty="0"/>
              <a:t>Resume &amp; Profile Analysis Agent</a:t>
            </a:r>
            <a:r>
              <a:rPr lang="en-IN" dirty="0"/>
              <a:t> (parses resume/job title to enrich personalization)</a:t>
            </a:r>
          </a:p>
          <a:p>
            <a:pPr lvl="0"/>
            <a:r>
              <a:rPr lang="en-IN" b="1" dirty="0"/>
              <a:t>Visualization Dashboard</a:t>
            </a:r>
            <a:r>
              <a:rPr lang="en-IN" dirty="0"/>
              <a:t> – Show a readiness score, technical vs. </a:t>
            </a:r>
            <a:r>
              <a:rPr lang="en-IN" dirty="0" err="1"/>
              <a:t>behavioral</a:t>
            </a:r>
            <a:r>
              <a:rPr lang="en-IN" dirty="0"/>
              <a:t> category breakdown, and progress across practice sessions.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02578"/>
            <a:ext cx="10607040" cy="5755422"/>
          </a:xfrm>
          <a:prstGeom prst="rect">
            <a:avLst/>
          </a:prstGeom>
          <a:noFill/>
        </p:spPr>
        <p:txBody>
          <a:bodyPr wrap="square" rtlCol="0">
            <a:spAutoFit/>
          </a:bodyPr>
          <a:lstStyle/>
          <a:p>
            <a:pPr fontAlgn="base"/>
            <a:endParaRPr lang="en-US" b="1" dirty="0"/>
          </a:p>
          <a:p>
            <a:r>
              <a:rPr lang="en-IN" sz="1800" b="1" dirty="0"/>
              <a:t>Proposed Solution: AI-Powered Interview Trainer Agent</a:t>
            </a:r>
            <a:endParaRPr lang="en-IN" sz="1800" dirty="0"/>
          </a:p>
          <a:p>
            <a:r>
              <a:rPr lang="en-IN" dirty="0"/>
              <a:t>The proposed solution is a multi-agent AI-powered Interview Trainer Agent built using IBM Bob, IBM watsonx.ai, and Granite Models to provide personalized, role-specific interview preparation. The system addresses challenges in scattered interview information, inconsistent preparation strategies, and lack of personalized feedback through an intelligent, modular architecture.</a:t>
            </a:r>
          </a:p>
          <a:p>
            <a:r>
              <a:rPr lang="en-IN" dirty="0"/>
              <a:t>At its core, the solution uses a Retrieval-Augmented Generation (RAG) pipeline to fetch accurate interview data from a structured knowledge base covering role-specific questions, industry expectations, </a:t>
            </a:r>
            <a:r>
              <a:rPr lang="en-IN" dirty="0" err="1"/>
              <a:t>behavioral</a:t>
            </a:r>
            <a:r>
              <a:rPr lang="en-IN" dirty="0"/>
              <a:t> scenarios, and HR guidelines. This data is embedded and stored in a vector database, enabling the system to retrieve and generate tailored questions, model answers, and improvement tips using Granite models.</a:t>
            </a:r>
          </a:p>
          <a:p>
            <a:r>
              <a:rPr lang="en-IN" dirty="0"/>
              <a:t>The system consists of four key agents:</a:t>
            </a:r>
          </a:p>
          <a:p>
            <a:pPr lvl="0"/>
            <a:r>
              <a:rPr lang="en-IN" b="1" dirty="0"/>
              <a:t>Interview Knowledge Agent</a:t>
            </a:r>
            <a:r>
              <a:rPr lang="en-IN" dirty="0"/>
              <a:t> retrieves and summarizes role-specific interview questions, industry expectations, and HR guidelines using RAG.</a:t>
            </a:r>
          </a:p>
          <a:p>
            <a:pPr lvl="0"/>
            <a:r>
              <a:rPr lang="en-IN" b="1" dirty="0"/>
              <a:t>Question Recommendation Agent</a:t>
            </a:r>
            <a:r>
              <a:rPr lang="en-IN" dirty="0"/>
              <a:t> generates personalized question sets and model answers based on user inputs such as profile name, experience level, job role, and resume content.</a:t>
            </a:r>
          </a:p>
          <a:p>
            <a:pPr lvl="0"/>
            <a:r>
              <a:rPr lang="en-IN" b="1" dirty="0"/>
              <a:t>Improvement Advisory Agent</a:t>
            </a:r>
            <a:r>
              <a:rPr lang="en-IN" dirty="0"/>
              <a:t> provides targeted feedback and improvement tips, covering both technical depth and </a:t>
            </a:r>
            <a:r>
              <a:rPr lang="en-IN" dirty="0" err="1"/>
              <a:t>behavioral</a:t>
            </a:r>
            <a:r>
              <a:rPr lang="en-IN" dirty="0"/>
              <a:t>/soft-skill communication.</a:t>
            </a:r>
          </a:p>
          <a:p>
            <a:pPr lvl="0"/>
            <a:r>
              <a:rPr lang="en-IN" b="1" dirty="0"/>
              <a:t>Resume &amp; Profile Analysis Agent</a:t>
            </a:r>
            <a:r>
              <a:rPr lang="en-IN" dirty="0"/>
              <a:t> allows users to input their resume or job title, parsing it to extract relevant skills and experience that enrich personalization.</a:t>
            </a:r>
          </a:p>
          <a:p>
            <a:r>
              <a:rPr lang="en-IN" dirty="0"/>
              <a:t>The solution includes a user-friendly dashboard (built with React) that visualizes readiness scores, technical vs. </a:t>
            </a:r>
            <a:r>
              <a:rPr lang="en-IN" dirty="0" err="1"/>
              <a:t>behavioral</a:t>
            </a:r>
            <a:r>
              <a:rPr lang="en-IN" dirty="0"/>
              <a:t> category breakdowns, and progress across practice sessions.</a:t>
            </a:r>
          </a:p>
          <a:p>
            <a:r>
              <a:rPr lang="en-IN" dirty="0"/>
              <a:t>IBM Bob is used to build and structure the agent's codebase, while watsonx.ai ensures model access, inference, and scalable deployment. Granite models power reasoning, question generation, and personalization, in line with the mandated use of IBM Cloud Lite services.</a:t>
            </a:r>
          </a:p>
          <a:p>
            <a:r>
              <a:rPr lang="en-IN" dirty="0"/>
              <a:t>Overall, this solution delivers an end-to-end intelligent interview preparation assistant that builds candidate confidence, sharpens responses, and increases success rates in competitive hiring environments.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a:t>
            </a:r>
            <a:r>
              <a:rPr lang="en-IN" sz="1800" dirty="0"/>
              <a:t>granite-4-h-small </a:t>
            </a:r>
            <a:r>
              <a:rPr lang="en-US" sz="1800" dirty="0"/>
              <a:t>–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Cloud</a:t>
            </a:r>
            <a:r>
              <a:rPr lang="en-IN" sz="1800" dirty="0"/>
              <a:t> – It provides the infrastructure to build, deploy, and scale the Interview Trainer Agent efficiently. IBM Cloud enables a reliable, secure, and scalable environment for deploying the Interview Trainer Agent.</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RAG</a:t>
            </a:r>
            <a:r>
              <a:rPr lang="en-IN" sz="1800" dirty="0"/>
              <a:t> – RAG to fetch real interview and role-specific data first, then generate intelligent, tailored responses, making the Interview Trainer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(Chroma)</a:t>
            </a:r>
            <a:r>
              <a:rPr lang="en-IN" sz="1800" dirty="0"/>
              <a:t> – For RAG-based interview question and scenario retrieval.</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F12F1A8-48FB-A97C-F741-FF761518A1AA}"/>
              </a:ext>
            </a:extLst>
          </p:cNvPr>
          <p:cNvPicPr>
            <a:picLocks noChangeAspect="1"/>
          </p:cNvPicPr>
          <p:nvPr/>
        </p:nvPicPr>
        <p:blipFill>
          <a:blip r:embed="rId3"/>
          <a:stretch>
            <a:fillRect/>
          </a:stretch>
        </p:blipFill>
        <p:spPr>
          <a:xfrm>
            <a:off x="580775" y="771747"/>
            <a:ext cx="11169445" cy="591974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E31FEBD-0C3F-C8B9-ED9B-E773051A84D0}"/>
              </a:ext>
            </a:extLst>
          </p:cNvPr>
          <p:cNvPicPr>
            <a:picLocks noChangeAspect="1"/>
          </p:cNvPicPr>
          <p:nvPr/>
        </p:nvPicPr>
        <p:blipFill>
          <a:blip r:embed="rId3"/>
          <a:stretch>
            <a:fillRect/>
          </a:stretch>
        </p:blipFill>
        <p:spPr>
          <a:xfrm>
            <a:off x="609599" y="836005"/>
            <a:ext cx="10805652" cy="5698756"/>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ABE17-5DA8-8F78-BE2C-8409B0F74483}"/>
              </a:ext>
            </a:extLst>
          </p:cNvPr>
          <p:cNvPicPr>
            <a:picLocks noChangeAspect="1"/>
          </p:cNvPicPr>
          <p:nvPr/>
        </p:nvPicPr>
        <p:blipFill>
          <a:blip r:embed="rId2"/>
          <a:stretch>
            <a:fillRect/>
          </a:stretch>
        </p:blipFill>
        <p:spPr>
          <a:xfrm>
            <a:off x="389589" y="413562"/>
            <a:ext cx="11412822" cy="6030876"/>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369583-5127-4584-31D3-60CCC6E8C19D}"/>
              </a:ext>
            </a:extLst>
          </p:cNvPr>
          <p:cNvPicPr>
            <a:picLocks noChangeAspect="1"/>
          </p:cNvPicPr>
          <p:nvPr/>
        </p:nvPicPr>
        <p:blipFill>
          <a:blip r:embed="rId2"/>
          <a:stretch>
            <a:fillRect/>
          </a:stretch>
        </p:blipFill>
        <p:spPr>
          <a:xfrm>
            <a:off x="0" y="201332"/>
            <a:ext cx="12192000" cy="6455336"/>
          </a:xfrm>
          <a:prstGeom prst="rect">
            <a:avLst/>
          </a:prstGeom>
        </p:spPr>
      </p:pic>
    </p:spTree>
    <p:extLst>
      <p:ext uri="{BB962C8B-B14F-4D97-AF65-F5344CB8AC3E}">
        <p14:creationId xmlns:p14="http://schemas.microsoft.com/office/powerpoint/2010/main" val="660618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D7D0F6-EBEA-EFFE-137A-67A4F814B84C}"/>
              </a:ext>
            </a:extLst>
          </p:cNvPr>
          <p:cNvPicPr>
            <a:picLocks noChangeAspect="1"/>
          </p:cNvPicPr>
          <p:nvPr/>
        </p:nvPicPr>
        <p:blipFill>
          <a:blip r:embed="rId2"/>
          <a:stretch>
            <a:fillRect/>
          </a:stretch>
        </p:blipFill>
        <p:spPr>
          <a:xfrm>
            <a:off x="0" y="201332"/>
            <a:ext cx="12192000" cy="6455336"/>
          </a:xfrm>
          <a:prstGeom prst="rect">
            <a:avLst/>
          </a:prstGeom>
        </p:spPr>
      </p:pic>
    </p:spTree>
    <p:extLst>
      <p:ext uri="{BB962C8B-B14F-4D97-AF65-F5344CB8AC3E}">
        <p14:creationId xmlns:p14="http://schemas.microsoft.com/office/powerpoint/2010/main" val="2775082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B21B18-D5AC-136B-B3FE-FB957B08B682}"/>
              </a:ext>
            </a:extLst>
          </p:cNvPr>
          <p:cNvPicPr>
            <a:picLocks noChangeAspect="1"/>
          </p:cNvPicPr>
          <p:nvPr/>
        </p:nvPicPr>
        <p:blipFill>
          <a:blip r:embed="rId2"/>
          <a:stretch>
            <a:fillRect/>
          </a:stretch>
        </p:blipFill>
        <p:spPr>
          <a:xfrm>
            <a:off x="0" y="182252"/>
            <a:ext cx="12192000" cy="6493496"/>
          </a:xfrm>
          <a:prstGeom prst="rect">
            <a:avLst/>
          </a:prstGeom>
        </p:spPr>
      </p:pic>
    </p:spTree>
    <p:extLst>
      <p:ext uri="{BB962C8B-B14F-4D97-AF65-F5344CB8AC3E}">
        <p14:creationId xmlns:p14="http://schemas.microsoft.com/office/powerpoint/2010/main" val="2696070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001D6B-259F-9DBD-0F32-91A66878BF62}"/>
              </a:ext>
            </a:extLst>
          </p:cNvPr>
          <p:cNvPicPr>
            <a:picLocks noChangeAspect="1"/>
          </p:cNvPicPr>
          <p:nvPr/>
        </p:nvPicPr>
        <p:blipFill>
          <a:blip r:embed="rId2"/>
          <a:stretch>
            <a:fillRect/>
          </a:stretch>
        </p:blipFill>
        <p:spPr>
          <a:xfrm>
            <a:off x="0" y="178861"/>
            <a:ext cx="12192000" cy="6500277"/>
          </a:xfrm>
          <a:prstGeom prst="rect">
            <a:avLst/>
          </a:prstGeom>
        </p:spPr>
      </p:pic>
    </p:spTree>
    <p:extLst>
      <p:ext uri="{BB962C8B-B14F-4D97-AF65-F5344CB8AC3E}">
        <p14:creationId xmlns:p14="http://schemas.microsoft.com/office/powerpoint/2010/main" val="1068875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5376B3EA-7E73-13D6-C063-869E08990FDA}"/>
              </a:ext>
            </a:extLst>
          </p:cNvPr>
          <p:cNvPicPr>
            <a:picLocks noChangeAspect="1"/>
          </p:cNvPicPr>
          <p:nvPr/>
        </p:nvPicPr>
        <p:blipFill>
          <a:blip r:embed="rId3"/>
          <a:stretch>
            <a:fillRect/>
          </a:stretch>
        </p:blipFill>
        <p:spPr>
          <a:xfrm>
            <a:off x="537590" y="688258"/>
            <a:ext cx="10445042" cy="571279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IN" b="1" dirty="0"/>
              <a:t>Role of Agentic AI in Interview Trainer Agent</a:t>
            </a:r>
            <a:endParaRPr lang="en-IN" dirty="0"/>
          </a:p>
          <a:p>
            <a:r>
              <a:rPr lang="en-IN" dirty="0"/>
              <a:t>Agentic AI enables the Interview Trainer Agent to function as an intelligent, adaptive system rather than a simple chatbot. Using IBM watsonx.ai and an IBM-hosted foundation model, it coordinates multiple specialized agents to deliver personalized interview preparation.</a:t>
            </a:r>
          </a:p>
          <a:p>
            <a:r>
              <a:rPr lang="en-IN" dirty="0"/>
              <a:t>Each agent performs a specific role—such as retrieving role-specific interview data, generating tailored question sets, providing improvement advice, and </a:t>
            </a:r>
            <a:r>
              <a:rPr lang="en-IN" dirty="0" err="1"/>
              <a:t>analyzing</a:t>
            </a:r>
            <a:r>
              <a:rPr lang="en-IN" dirty="0"/>
              <a:t> resume/profile input—while working collaboratively. This multi-agent approach ensures efficient task execution and accurate, relevant results.</a:t>
            </a:r>
          </a:p>
          <a:p>
            <a:r>
              <a:rPr lang="en-IN" dirty="0"/>
              <a:t>Agentic AI also brings context awareness, understanding user details like experience level, job role, and resume content to generate tailored questions and answers. It supports real-time adaptation, continuously refining question sets and feedback based on user inputs like resume uploads or updated job roles.</a:t>
            </a:r>
          </a:p>
          <a:p>
            <a:r>
              <a:rPr lang="en-IN" dirty="0"/>
              <a:t>Additionally, agents communicate with each other, enabling better decision-making and more coherent, well-rounded preparation output.</a:t>
            </a:r>
          </a:p>
          <a:p>
            <a:r>
              <a:rPr lang="en-IN" dirty="0"/>
              <a:t>Overall, Agentic AI makes the system proactive, personalized, and goal-driven, acting like a smart digital interview coach that helps users build confidence and succeed in competitive hiring environments.</a:t>
            </a:r>
          </a:p>
        </p:txBody>
      </p:sp>
    </p:spTree>
    <p:extLst>
      <p:ext uri="{BB962C8B-B14F-4D97-AF65-F5344CB8AC3E}">
        <p14:creationId xmlns:p14="http://schemas.microsoft.com/office/powerpoint/2010/main" val="4000696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9487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C84C30D6-900E-F3DD-4F49-8012B3C72286}"/>
              </a:ext>
            </a:extLst>
          </p:cNvPr>
          <p:cNvPicPr>
            <a:picLocks noChangeAspect="1"/>
          </p:cNvPicPr>
          <p:nvPr/>
        </p:nvPicPr>
        <p:blipFill>
          <a:blip r:embed="rId3"/>
          <a:stretch>
            <a:fillRect/>
          </a:stretch>
        </p:blipFill>
        <p:spPr>
          <a:xfrm>
            <a:off x="178912" y="2282941"/>
            <a:ext cx="5567680" cy="2818638"/>
          </a:xfrm>
          <a:prstGeom prst="rect">
            <a:avLst/>
          </a:prstGeom>
        </p:spPr>
      </p:pic>
      <p:pic>
        <p:nvPicPr>
          <p:cNvPr id="6" name="Picture 5">
            <a:extLst>
              <a:ext uri="{FF2B5EF4-FFF2-40B4-BE49-F238E27FC236}">
                <a16:creationId xmlns:a16="http://schemas.microsoft.com/office/drawing/2014/main" id="{9CE4FDE5-7C61-470C-CEA9-1A8C4606C79C}"/>
              </a:ext>
            </a:extLst>
          </p:cNvPr>
          <p:cNvPicPr>
            <a:picLocks noChangeAspect="1"/>
          </p:cNvPicPr>
          <p:nvPr/>
        </p:nvPicPr>
        <p:blipFill>
          <a:blip r:embed="rId4"/>
          <a:stretch>
            <a:fillRect/>
          </a:stretch>
        </p:blipFill>
        <p:spPr>
          <a:xfrm>
            <a:off x="6120288" y="2217864"/>
            <a:ext cx="5892800" cy="305075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9" name="Picture 8">
            <a:extLst>
              <a:ext uri="{FF2B5EF4-FFF2-40B4-BE49-F238E27FC236}">
                <a16:creationId xmlns:a16="http://schemas.microsoft.com/office/drawing/2014/main" id="{B4996490-C4B8-E99A-B3CB-EA79ED4CB6BC}"/>
              </a:ext>
            </a:extLst>
          </p:cNvPr>
          <p:cNvPicPr>
            <a:picLocks noChangeAspect="1"/>
          </p:cNvPicPr>
          <p:nvPr/>
        </p:nvPicPr>
        <p:blipFill>
          <a:blip r:embed="rId3"/>
          <a:stretch>
            <a:fillRect/>
          </a:stretch>
        </p:blipFill>
        <p:spPr>
          <a:xfrm>
            <a:off x="833119" y="680720"/>
            <a:ext cx="9794241" cy="581373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3BE9DF8B-1339-5120-3392-30A450FC1084}"/>
              </a:ext>
            </a:extLst>
          </p:cNvPr>
          <p:cNvPicPr>
            <a:picLocks noChangeAspect="1"/>
          </p:cNvPicPr>
          <p:nvPr/>
        </p:nvPicPr>
        <p:blipFill>
          <a:blip r:embed="rId3"/>
          <a:stretch>
            <a:fillRect/>
          </a:stretch>
        </p:blipFill>
        <p:spPr>
          <a:xfrm>
            <a:off x="1218724" y="816977"/>
            <a:ext cx="9225756" cy="581373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6472D-61D5-8F93-7F29-3B8667D80157}"/>
              </a:ext>
            </a:extLst>
          </p:cNvPr>
          <p:cNvSpPr>
            <a:spLocks noGrp="1"/>
          </p:cNvSpPr>
          <p:nvPr>
            <p:ph type="title"/>
          </p:nvPr>
        </p:nvSpPr>
        <p:spPr>
          <a:xfrm>
            <a:off x="838200" y="365125"/>
            <a:ext cx="3632200" cy="803275"/>
          </a:xfrm>
        </p:spPr>
        <p:txBody>
          <a:bodyPr>
            <a:normAutofit/>
          </a:bodyPr>
          <a:lstStyle/>
          <a:p>
            <a:r>
              <a:rPr lang="en-US" sz="2400" b="1" dirty="0">
                <a:sym typeface="Times New Roman"/>
              </a:rPr>
              <a:t>Project Output Screenshot</a:t>
            </a:r>
            <a:endParaRPr lang="en-IN" sz="2400" dirty="0"/>
          </a:p>
        </p:txBody>
      </p:sp>
      <p:sp>
        <p:nvSpPr>
          <p:cNvPr id="3" name="Text Placeholder 2">
            <a:extLst>
              <a:ext uri="{FF2B5EF4-FFF2-40B4-BE49-F238E27FC236}">
                <a16:creationId xmlns:a16="http://schemas.microsoft.com/office/drawing/2014/main" id="{CEC9DD20-B3D9-C1A5-F243-FFA3C1691617}"/>
              </a:ext>
            </a:extLst>
          </p:cNvPr>
          <p:cNvSpPr>
            <a:spLocks noGrp="1"/>
          </p:cNvSpPr>
          <p:nvPr>
            <p:ph type="body" idx="1"/>
          </p:nvPr>
        </p:nvSpPr>
        <p:spPr>
          <a:xfrm>
            <a:off x="838200" y="1168400"/>
            <a:ext cx="10515600" cy="5008563"/>
          </a:xfrm>
        </p:spPr>
        <p:txBody>
          <a:bodyPr/>
          <a:lstStyle/>
          <a:p>
            <a:endParaRPr lang="en-IN" dirty="0"/>
          </a:p>
        </p:txBody>
      </p:sp>
      <p:pic>
        <p:nvPicPr>
          <p:cNvPr id="5" name="Picture 4">
            <a:extLst>
              <a:ext uri="{FF2B5EF4-FFF2-40B4-BE49-F238E27FC236}">
                <a16:creationId xmlns:a16="http://schemas.microsoft.com/office/drawing/2014/main" id="{094C59A9-EF88-F8C8-99DD-E14E39467C48}"/>
              </a:ext>
            </a:extLst>
          </p:cNvPr>
          <p:cNvPicPr>
            <a:picLocks noChangeAspect="1"/>
          </p:cNvPicPr>
          <p:nvPr/>
        </p:nvPicPr>
        <p:blipFill>
          <a:blip r:embed="rId2"/>
          <a:stretch>
            <a:fillRect/>
          </a:stretch>
        </p:blipFill>
        <p:spPr>
          <a:xfrm>
            <a:off x="838201" y="931544"/>
            <a:ext cx="10515600" cy="5245419"/>
          </a:xfrm>
          <a:prstGeom prst="rect">
            <a:avLst/>
          </a:prstGeom>
        </p:spPr>
      </p:pic>
    </p:spTree>
    <p:extLst>
      <p:ext uri="{BB962C8B-B14F-4D97-AF65-F5344CB8AC3E}">
        <p14:creationId xmlns:p14="http://schemas.microsoft.com/office/powerpoint/2010/main" val="3316483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B37E3AF7-0A56-4109-417D-93B63E949571}"/>
              </a:ext>
            </a:extLst>
          </p:cNvPr>
          <p:cNvPicPr>
            <a:picLocks noChangeAspect="1"/>
          </p:cNvPicPr>
          <p:nvPr/>
        </p:nvPicPr>
        <p:blipFill>
          <a:blip r:embed="rId3"/>
          <a:stretch>
            <a:fillRect/>
          </a:stretch>
        </p:blipFill>
        <p:spPr>
          <a:xfrm>
            <a:off x="1218724" y="716494"/>
            <a:ext cx="8718405" cy="602854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01314"/>
          </a:xfrm>
          <a:prstGeom prst="rect">
            <a:avLst/>
          </a:prstGeom>
          <a:noFill/>
        </p:spPr>
        <p:txBody>
          <a:bodyPr wrap="square" rtlCol="0">
            <a:spAutoFit/>
          </a:bodyPr>
          <a:lstStyle/>
          <a:p>
            <a:r>
              <a:rPr lang="en-IN" sz="1800" dirty="0"/>
              <a:t>The proposed Interview Trainer Agent stands out by combining Agentic AI, RAG, and personalization into a single intelligent system.</a:t>
            </a:r>
          </a:p>
          <a:p>
            <a:pPr lvl="0"/>
            <a:r>
              <a:rPr lang="en-IN" sz="1800" b="1" dirty="0"/>
              <a:t>Multi-Agent Intelligence</a:t>
            </a:r>
            <a:r>
              <a:rPr lang="en-IN" sz="1800" dirty="0"/>
              <a:t> – Instead of a single chatbot, multiple specialized agents collaborate to deliver accurate and context-aware interview preparation.</a:t>
            </a:r>
          </a:p>
          <a:p>
            <a:pPr lvl="0"/>
            <a:r>
              <a:rPr lang="en-IN" sz="1800" b="1" dirty="0"/>
              <a:t>RAG-Based Accuracy</a:t>
            </a:r>
            <a:r>
              <a:rPr lang="en-IN" sz="1800" dirty="0"/>
              <a:t> – Integrates real-time retrieval of role-specific questions and HR guidelines with AI generation, reducing generic or irrelevant advice and ensuring trustworthy preparation content.</a:t>
            </a:r>
          </a:p>
          <a:p>
            <a:pPr lvl="0"/>
            <a:r>
              <a:rPr lang="en-IN" sz="1800" b="1" dirty="0"/>
              <a:t>Hyper-Personalization</a:t>
            </a:r>
            <a:r>
              <a:rPr lang="en-IN" sz="1800" dirty="0"/>
              <a:t> – Tailors question sets and model answers based on experience level, job role, and resume content.</a:t>
            </a:r>
          </a:p>
          <a:p>
            <a:pPr lvl="0"/>
            <a:r>
              <a:rPr lang="en-IN" sz="1800" b="1" dirty="0"/>
              <a:t>Real-Time Feedback Loop</a:t>
            </a:r>
            <a:r>
              <a:rPr lang="en-IN" sz="1800" dirty="0"/>
              <a:t> – Continuously adapts question sets and improvement tips as users update their resume or job role.</a:t>
            </a:r>
          </a:p>
          <a:p>
            <a:pPr lvl="0"/>
            <a:r>
              <a:rPr lang="en-IN" sz="1800" b="1" dirty="0"/>
              <a:t>Flexible Input Options</a:t>
            </a:r>
            <a:r>
              <a:rPr lang="en-IN" sz="1800" dirty="0"/>
              <a:t> – Supports both resume upload and manually entered job title/role for better accessibility to candidates at any preparation stage.</a:t>
            </a:r>
          </a:p>
          <a:p>
            <a:pPr lvl="0"/>
            <a:r>
              <a:rPr lang="en-IN" sz="1800" b="1" dirty="0"/>
              <a:t>Confidence &amp; Readiness Focus</a:t>
            </a:r>
            <a:r>
              <a:rPr lang="en-IN" sz="1800" dirty="0"/>
              <a:t> – Goes beyond generic question lists to provide </a:t>
            </a:r>
            <a:r>
              <a:rPr lang="en-IN" sz="1800" dirty="0" err="1"/>
              <a:t>behavioral</a:t>
            </a:r>
            <a:r>
              <a:rPr lang="en-IN" sz="1800" dirty="0"/>
              <a:t> coaching and improvement tips, building candidate confidence for real interviews.</a:t>
            </a:r>
          </a:p>
          <a:p>
            <a:pPr lvl="0"/>
            <a:r>
              <a:rPr lang="en-IN" sz="1800" b="1" dirty="0"/>
              <a:t>Scalable &amp; Enterprise-Ready</a:t>
            </a:r>
            <a:r>
              <a:rPr lang="en-IN" sz="1800" dirty="0"/>
              <a:t> – Built on IBM watsonx.ai, ensuring reliability within IBM Cloud Lite services.</a:t>
            </a:r>
          </a:p>
          <a:p>
            <a:r>
              <a:rPr lang="en-IN" sz="1800" dirty="0"/>
              <a:t>This makes the solution a smart, adaptive, and proactive digital interview coach, not just a static question-bank tool.</a:t>
            </a:r>
          </a:p>
        </p:txBody>
      </p:sp>
    </p:spTree>
    <p:extLst>
      <p:ext uri="{BB962C8B-B14F-4D97-AF65-F5344CB8AC3E}">
        <p14:creationId xmlns:p14="http://schemas.microsoft.com/office/powerpoint/2010/main" val="2325282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04600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https://github.com/ayush-cyber1/interview-trainer-agent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3830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518685"/>
          </a:xfrm>
          <a:prstGeom prst="rect">
            <a:avLst/>
          </a:prstGeom>
          <a:noFill/>
          <a:ln>
            <a:noFill/>
          </a:ln>
        </p:spPr>
        <p:txBody>
          <a:bodyPr spcFirstLastPara="1" wrap="square" lIns="0" tIns="0" rIns="0" bIns="0" anchor="t" anchorCtr="0">
            <a:noAutofit/>
          </a:bodyPr>
          <a:lstStyle/>
          <a:p>
            <a:pPr lvl="0"/>
            <a:r>
              <a:rPr lang="en-IN" sz="2000" b="1" dirty="0"/>
              <a:t>Integration with Video/Mock Interview Platforms</a:t>
            </a:r>
            <a:r>
              <a:rPr lang="en-IN" sz="2000" dirty="0"/>
              <a:t> –</a:t>
            </a:r>
            <a:br>
              <a:rPr lang="en-IN" sz="2000" dirty="0"/>
            </a:br>
            <a:r>
              <a:rPr lang="en-IN" sz="2000" dirty="0"/>
              <a:t>The system can be integrated with video conferencing tools or mock-interview platforms to simulate real interview conditions. This will enable the Interview Trainer Agent to </a:t>
            </a:r>
            <a:r>
              <a:rPr lang="en-IN" sz="2000" dirty="0" err="1"/>
              <a:t>analyze</a:t>
            </a:r>
            <a:r>
              <a:rPr lang="en-IN" sz="2000" dirty="0"/>
              <a:t> spoken responses, pacing, and confidence levels, providing more realistic and dynamic feedback based on how a candidate actually performs, not just what they type.</a:t>
            </a:r>
          </a:p>
          <a:p>
            <a:pPr lvl="0"/>
            <a:endParaRPr lang="en-IN" sz="2000" dirty="0"/>
          </a:p>
          <a:p>
            <a:pPr lvl="0"/>
            <a:r>
              <a:rPr lang="en-IN" sz="2000" b="1" dirty="0"/>
              <a:t>AI-Powered Voice Assistant &amp; Multilingual Support</a:t>
            </a:r>
            <a:r>
              <a:rPr lang="en-IN" sz="2000" dirty="0"/>
              <a:t> –</a:t>
            </a:r>
            <a:br>
              <a:rPr lang="en-IN" sz="2000" dirty="0"/>
            </a:br>
            <a:r>
              <a:rPr lang="en-IN" sz="2000" dirty="0"/>
              <a:t>Enhancing the system with a voice-enabled assistant and support for multiple languages will improve accessibility. Users can practice answering questions out loud in their preferred language, making the solution more inclusive and suitable for diverse candidates, especially in regions with varied linguistic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  </a:t>
            </a:r>
          </a:p>
        </p:txBody>
      </p:sp>
      <p:pic>
        <p:nvPicPr>
          <p:cNvPr id="4" name="Picture 3">
            <a:extLst>
              <a:ext uri="{FF2B5EF4-FFF2-40B4-BE49-F238E27FC236}">
                <a16:creationId xmlns:a16="http://schemas.microsoft.com/office/drawing/2014/main" id="{89468A2C-E4DE-74F1-D739-50383DB07FDF}"/>
              </a:ext>
            </a:extLst>
          </p:cNvPr>
          <p:cNvPicPr>
            <a:picLocks noChangeAspect="1"/>
          </p:cNvPicPr>
          <p:nvPr/>
        </p:nvPicPr>
        <p:blipFill>
          <a:blip r:embed="rId2"/>
          <a:stretch>
            <a:fillRect/>
          </a:stretch>
        </p:blipFill>
        <p:spPr>
          <a:xfrm>
            <a:off x="1784275" y="1181553"/>
            <a:ext cx="8623449" cy="546906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E3AB8EF0-6738-A8D3-58A1-8FC44F4843CC}"/>
              </a:ext>
            </a:extLst>
          </p:cNvPr>
          <p:cNvPicPr>
            <a:picLocks noChangeAspect="1"/>
          </p:cNvPicPr>
          <p:nvPr/>
        </p:nvPicPr>
        <p:blipFill>
          <a:blip r:embed="rId2"/>
          <a:stretch>
            <a:fillRect/>
          </a:stretch>
        </p:blipFill>
        <p:spPr>
          <a:xfrm>
            <a:off x="2118862" y="1097280"/>
            <a:ext cx="7969496" cy="563407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1597</Words>
  <Application>Microsoft Office PowerPoint</Application>
  <PresentationFormat>Widescreen</PresentationFormat>
  <Paragraphs>119</Paragraphs>
  <Slides>25</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Output Screenshot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shri bhagwan</cp:lastModifiedBy>
  <cp:revision>6</cp:revision>
  <dcterms:created xsi:type="dcterms:W3CDTF">2025-07-08T05:06:56Z</dcterms:created>
  <dcterms:modified xsi:type="dcterms:W3CDTF">2026-09-11T12:59:45Z</dcterms:modified>
</cp:coreProperties>
</file>